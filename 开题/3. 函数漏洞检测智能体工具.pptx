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布置大作业——函数漏洞检测智能体工具。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任务是开发一个基于大语言模型的 C/C++ 函数代码漏洞检测 Agent。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核心是两个能力：基于历史 CVE 案例的领域知识检索，以及在代码仓库中按需挖掘上下文。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先看背景。CVE 是全球统一的漏洞标识体系，每个漏洞都会记录成因、影响、严重程度和修复方法，并按 CWE 分类体系标注漏洞类型。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根据 CVE 官方数据，2026 年仅前两个季度披露的漏洞就超过 3.5 万条，数量在急剧增长。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人工审计和传统静态分析都难以应对这个规模，因此自动化漏洞检测技术受到越来越多的关注。这就是本作业要解决的问题。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开发目标是一个基于 LLM 的函数代码漏洞检测 Agent。任务有两个核心难点。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第一，前沿 LLM 往往缺乏软件安全领域的专门知识，需要用历史 CVE 漏洞实例构建领域知识库，通过 RAG 方式检索相似案例。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第二，只看孤立函数内部逻辑往往不足以判断是否有漏洞，很多漏洞出现在函数与调用方、被调用方、全局变量的交互中。因此需要让智能体能够在代码仓库中按需挖掘上下文。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这两个能力——RAG 知识检索和仓库上下文读取——是本作业系统设计的两条主线。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整体 pipeline 分五步：输入函数、检索知识库、初步分析、按需读仓库、输出报告。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关键设计是证据驱动：智能体先用知识库做初步分析，如果证据足够就直接出报告；只有当发现证据不足时，才调用仓库读取工具去挖掘上下文。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这样可以避免一上来就全仓扫描，节省工具调用成本，同时让分析过程有据可查。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所有知识检索和仓库读取的记录都要在界面上展示，保证过程透明可追溯。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第一个核心模块是领域知识库 RAG。数据集是历史 CVE 漏洞案例，同样由成对的漏洞版和修复版函数组成，附带 cve_desc、commit_message、cwe 等字段。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知识库怎么建不做硬性规定：可以直接把原始信息向量化，也可以用 LLM 对这些信息做二次加工和总结，再通过向量相似度检索相似漏洞模式。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注意两条：一是历史案例数据集允许成对使用，这和测试集不同；二是知识库只能用提供的数据，不能额外引入外部安全知识。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第二个核心模块是代码上下文挖掘。智能体通过修复提交链接获取对应版本的仓库快照。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仓库里配备 grep、find 等查找工具，可以溯源函数调用方、被调用方、全局变量声明等上下文。也可以借助 Tree-sitter 这样的语法解析器，精准提取函数定义和调用关系等结构化信息。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有一条严格的版本控制规则：漏洞版样本只能拿到父提交，修复版样本只能拿到提交后版本。绝对不能让 LLM 看到两版之间的 diff 或代码变更。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这一页讲输入输出和界面要求。特别强调：必须做图形化 UI，不接受纯命令行工具。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用户输入一个 C/C++ 函数和对应的仓库链接，可以单条检测，也可以上传 jsonl 文件批量检测。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输出的检测报告必须包含四项：函数 idx、检测结果（有漏洞还是无漏洞）、判定理由、以及分析记录——包括历史案例检索了哪些、仓库读取了哪些。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整个分析过程要在 UI 上可见，让用户能看到智能体是怎么一步步推理的。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测试集共 150 对函数样本，也就是 300 条，每对是同一个函数的漏洞版和修复版，都来自开源项目中真实已修复的漏洞。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有三条严格的隔离红线：第一，每次只能给 LLM 看一对中的一个函数，不能两个一起给；第二，漏洞版样本只能拿到父提交的仓库，修复版只能拿到提交后的仓库；第三，绝对不能提供 git diff，不能让 LLM 直接看到修复了哪里。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最终要把 300 条结果汇总成 result.jsonl，每条记录 idx 和预测标签，用于统一评测。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评测按成对统计。虽然检测时严格隔离，但最终指标按对来算。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P-C 是成对正确：漏洞版判 1、修复版判 0，这是我们要追求的。P-V 是两个都判有漏洞，P-B 是两个都判无漏洞，P-R 是完全反转。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等级按 P-C 对数划分：30 对以上是 A，25 到 29 是 B，20 到 24 是 C，不到 20 是 D。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惩罚规则：如果 P-R 超过 P-C 的一半，等级降一级。这是为了防止模型靠乱猜或偏向某一类来刷分。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最后一页讲三条红线和参考技术栈。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第一，必须是具备自主推理和工具调用能力的独立 Agent，不能直接调用 Codex、Claude Code 这类现成商业代码分析工具，也不能只是把 LLM API 串成流水线而没有 Agent 自主决策。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第二，严格成对隔离，前面已经强调过。第三，禁止网络搜索——因为测试样本来自真实项目，联网搜索会直接找到答案。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技术栈不做强制：RAG 可用 LangChain 或 LlamaIndex，向量库可选 FAISS 或 Chroma；Agent 编排可用 LangGraph、Pi Agent 或 AutoGen；代码解析可用 GitHub API 配合 Tree-sitter。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4C7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1016000" y="1524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C7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高级软件工程 · 课程大作业</a:t>
            </a:r>
            <a:endParaRPr lang="en-US" sz="1600" b="0" i="0" u="none" strike="noStrike">
              <a:solidFill>
                <a:srgbClr val="4C7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cxnSp>
        <p:nvCxnSpPr>
          <p:cNvPr id="4" name="Connector 4"/>
          <p:cNvCxnSpPr/>
          <p:nvPr/>
        </p:nvCxnSpPr>
        <p:spPr>
          <a:xfrm rot="-28647">
            <a:off x="1016026" y="20891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 txBox="1"/>
          <p:nvPr/>
        </p:nvSpPr>
        <p:spPr>
          <a:xfrm>
            <a:off x="1016000" y="2540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2A2D30"/>
                </a:solidFill>
                <a:latin typeface="微软雅黑" panose="020B0503020204020204" charset="-122"/>
                <a:ea typeface="微软雅黑" panose="020B0503020204020204" charset="-122"/>
                <a:cs typeface="Noto Serif SC"/>
                <a:sym typeface="Noto Serif SC"/>
              </a:rPr>
              <a:t>函数漏洞检测智能体工具</a:t>
            </a:r>
            <a:endParaRPr lang="en-US" sz="5600" b="1" i="0" u="none" strike="noStrike">
              <a:solidFill>
                <a:srgbClr val="2A2D30"/>
              </a:solidFill>
              <a:latin typeface="微软雅黑" panose="020B0503020204020204" charset="-122"/>
              <a:ea typeface="微软雅黑" panose="020B0503020204020204" charset="-122"/>
              <a:cs typeface="Noto Serif SC"/>
              <a:sym typeface="Noto Serif SC"/>
            </a:endParaRPr>
          </a:p>
        </p:txBody>
      </p:sp>
      <p:sp>
        <p:nvSpPr>
          <p:cNvPr id="6" name="AutoShape 6"/>
          <p:cNvSpPr txBox="1"/>
          <p:nvPr/>
        </p:nvSpPr>
        <p:spPr>
          <a:xfrm>
            <a:off x="1016000" y="3746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A2D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/>
              </a:rPr>
              <a:t>基于 LLM 的 C/C++ 函数代码自动化漏洞检测 Agent</a:t>
            </a:r>
            <a:endParaRPr lang="en-US" sz="2200" b="1" i="0" u="none" strike="noStrike">
              <a:solidFill>
                <a:srgbClr val="2A2D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1016000" y="4572000"/>
            <a:ext cx="939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以历史 CVE 案例构建领域知识库（RAG），并在代码仓库中按需挖掘调用方、</a:t>
            </a:r>
            <a:endParaRPr 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被调用方等上下文，实现对单个函数的可靠漏洞判定与分析报告。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-4297">
            <a:off x="1016004" y="596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0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 txBox="1"/>
          <p:nvPr/>
        </p:nvSpPr>
        <p:spPr>
          <a:xfrm>
            <a:off x="1016000" y="6159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7882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课程大作业项目研发 · 题目布置</a:t>
            </a:r>
            <a:endParaRPr lang="en-US" b="0" i="0" u="none" strike="noStrike">
              <a:solidFill>
                <a:srgbClr val="7882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7366000" y="6159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7882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2026 秋季学期</a:t>
            </a:r>
            <a:endParaRPr lang="en-US" b="0" i="0" u="none" strike="noStrike">
              <a:solidFill>
                <a:srgbClr val="7882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7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01 · 项目背景</a:t>
            </a:r>
            <a:endParaRPr lang="en-US" sz="1600" b="1" i="0" u="none" strike="noStrike">
              <a:solidFill>
                <a:srgbClr val="4C7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1016000" y="1016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A2D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/>
              </a:rPr>
              <a:t>CVE 漏洞数量激增，自动化检测需求迫切</a:t>
            </a:r>
            <a:endParaRPr lang="en-US" sz="3200" b="1" i="0" u="none" strike="noStrike">
              <a:solidFill>
                <a:srgbClr val="2A2D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/>
            </a:endParaRPr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771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0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1016000" y="2159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CVE（Common Vulnerabilities and Exposures）是软件安全漏洞的全球统一标识体系，记录每个漏洞的成因、影响范围、严重程度与修复方法，并按 CWE（Common Weakness Enumeration）漏洞类别体系标注类型（如缓冲区越界、身份验证不当等）。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cxnSp>
        <p:nvCxnSpPr>
          <p:cNvPr id="6" name="Connector 6"/>
          <p:cNvCxnSpPr/>
          <p:nvPr/>
        </p:nvCxnSpPr>
        <p:spPr>
          <a:xfrm rot="-4297">
            <a:off x="1016004" y="3549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0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 txBox="1"/>
          <p:nvPr/>
        </p:nvSpPr>
        <p:spPr>
          <a:xfrm>
            <a:off x="1016000" y="39370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4C7A5A"/>
                </a:solidFill>
                <a:latin typeface="微软雅黑" panose="020B0503020204020204" charset="-122"/>
                <a:ea typeface="微软雅黑" panose="020B0503020204020204" charset="-122"/>
                <a:cs typeface="Noto Serif SC"/>
                <a:sym typeface="Noto Serif SC"/>
              </a:rPr>
              <a:t>35,000+</a:t>
            </a:r>
            <a:endParaRPr lang="en-US" sz="5600" b="1" i="0" u="none" strike="noStrike">
              <a:solidFill>
                <a:srgbClr val="4C7A5A"/>
              </a:solidFill>
              <a:latin typeface="微软雅黑" panose="020B0503020204020204" charset="-122"/>
              <a:ea typeface="微软雅黑" panose="020B0503020204020204" charset="-122"/>
              <a:cs typeface="Noto Serif SC"/>
              <a:sym typeface="Noto Serif SC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1016000" y="5080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2026 年仅前两个季度已披露的 CVE 漏洞数</a:t>
            </a:r>
            <a:endParaRPr 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（CVE 官方数据，近年数量急剧增长）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cxnSp>
        <p:nvCxnSpPr>
          <p:cNvPr id="9" name="Connector 9"/>
          <p:cNvCxnSpPr/>
          <p:nvPr/>
        </p:nvCxnSpPr>
        <p:spPr>
          <a:xfrm rot="5373556">
            <a:off x="5397500" y="4756174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0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 txBox="1"/>
          <p:nvPr/>
        </p:nvSpPr>
        <p:spPr>
          <a:xfrm>
            <a:off x="6731000" y="39370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A2D30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为什么需要智能体</a:t>
            </a:r>
            <a:endParaRPr lang="en-US" sz="1600" b="1" i="0" u="none" strike="noStrike">
              <a:solidFill>
                <a:srgbClr val="2A2D30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 txBox="1"/>
          <p:nvPr/>
        </p:nvSpPr>
        <p:spPr>
          <a:xfrm>
            <a:off x="6731000" y="4445000"/>
            <a:ext cx="444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· 人工审计难以跟上漏洞增长速度</a:t>
            </a:r>
            <a:endParaRPr 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· 传统静态分析误报率高、可解释性弱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· LLM 具备代码理解与推理潜力，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　　但需补足安全领域知识与代码上下文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7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02 · 开发目标</a:t>
            </a:r>
            <a:endParaRPr lang="en-US" sz="1600" b="1" i="0" u="none" strike="noStrike">
              <a:solidFill>
                <a:srgbClr val="4C7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1016000" y="1016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A2D30"/>
                </a:solidFill>
                <a:latin typeface="微软雅黑" panose="020B0503020204020204" charset="-122"/>
                <a:ea typeface="微软雅黑" panose="020B0503020204020204" charset="-122"/>
                <a:cs typeface="Noto Serif SC"/>
                <a:sym typeface="Noto Serif SC"/>
              </a:rPr>
              <a:t>两个核心难点决定系统设计</a:t>
            </a:r>
            <a:endParaRPr lang="en-US" sz="3200" b="1" i="0" u="none" strike="noStrike">
              <a:solidFill>
                <a:srgbClr val="2A2D30"/>
              </a:solidFill>
              <a:latin typeface="微软雅黑" panose="020B0503020204020204" charset="-122"/>
              <a:ea typeface="微软雅黑" panose="020B0503020204020204" charset="-122"/>
              <a:cs typeface="Noto Serif SC"/>
              <a:sym typeface="Noto Serif SC"/>
            </a:endParaRPr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771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0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1016000" y="2095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目标：开发一个基于 LLM 的函数代码漏洞检测 Agent。两个核心难点如下——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 txBox="1"/>
          <p:nvPr/>
        </p:nvSpPr>
        <p:spPr>
          <a:xfrm>
            <a:off x="1016000" y="2921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C7A5A"/>
                </a:solidFill>
                <a:latin typeface="微软雅黑" panose="020B0503020204020204" charset="-122"/>
                <a:ea typeface="微软雅黑" panose="020B0503020204020204" charset="-122"/>
                <a:cs typeface="Noto Serif SC"/>
                <a:sym typeface="Noto Serif SC"/>
              </a:rPr>
              <a:t>一</a:t>
            </a:r>
            <a:endParaRPr lang="en-US" sz="2800" b="1" i="0" u="none" strike="noStrike">
              <a:solidFill>
                <a:srgbClr val="4C7A5A"/>
              </a:solidFill>
              <a:latin typeface="微软雅黑" panose="020B0503020204020204" charset="-122"/>
              <a:ea typeface="微软雅黑" panose="020B0503020204020204" charset="-122"/>
              <a:cs typeface="Noto Serif SC"/>
              <a:sym typeface="Noto Serif SC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1905000" y="2921000"/>
            <a:ext cx="927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A2D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LLM 缺乏软件安全领域知识</a:t>
            </a:r>
            <a:endParaRPr lang="en-US" sz="1800" b="1" i="0" u="none" strike="noStrike">
              <a:solidFill>
                <a:srgbClr val="2A2D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1905000" y="3403600"/>
            <a:ext cx="927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即使是前沿 LLM，也往往缺乏对软件安全领域知识的充分了解。需要基于已披露的 CVE 漏洞实例，为智能体构建领域知识库。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1905000" y="4254500"/>
            <a:ext cx="927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C7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→ 对策：领域知识 RAG 模块，检索历史相似漏洞案例</a:t>
            </a:r>
            <a:endParaRPr lang="en-US" sz="1600" b="0" i="0" u="none" strike="noStrike">
              <a:solidFill>
                <a:srgbClr val="4C7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 rot="-4297">
            <a:off x="1016004" y="4819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0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 txBox="1"/>
          <p:nvPr/>
        </p:nvSpPr>
        <p:spPr>
          <a:xfrm>
            <a:off x="1016000" y="5080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C7A5A"/>
                </a:solidFill>
                <a:latin typeface="微软雅黑" panose="020B0503020204020204" charset="-122"/>
                <a:ea typeface="微软雅黑" panose="020B0503020204020204" charset="-122"/>
                <a:cs typeface="Noto Serif SC"/>
                <a:sym typeface="Noto Serif SC"/>
              </a:rPr>
              <a:t>二</a:t>
            </a:r>
            <a:endParaRPr lang="en-US" sz="2800" b="1" i="0" u="none" strike="noStrike">
              <a:solidFill>
                <a:srgbClr val="4C7A5A"/>
              </a:solidFill>
              <a:latin typeface="微软雅黑" panose="020B0503020204020204" charset="-122"/>
              <a:ea typeface="微软雅黑" panose="020B0503020204020204" charset="-122"/>
              <a:cs typeface="Noto Serif SC"/>
              <a:sym typeface="Noto Serif SC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1905000" y="5080000"/>
            <a:ext cx="927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A2D30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仅凭孤立函数难以判断安全性</a:t>
            </a:r>
            <a:endParaRPr lang="en-US" sz="1800" b="1" i="0" u="none" strike="noStrike">
              <a:solidFill>
                <a:srgbClr val="2A2D30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 txBox="1"/>
          <p:nvPr/>
        </p:nvSpPr>
        <p:spPr>
          <a:xfrm>
            <a:off x="1905000" y="5562600"/>
            <a:ext cx="927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检测对象是函数代码，但漏洞常与调用方、被调用方、全局变量等上下文相关。需要为智能体设计在代码仓库中挖掘上下文的能力。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1905000" y="6223000"/>
            <a:ext cx="927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C7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→ 对策：代码仓库按需读取能力（grep / find / 调用关系）</a:t>
            </a:r>
            <a:endParaRPr lang="en-US" sz="1600" b="0" i="0" u="none" strike="noStrike">
              <a:solidFill>
                <a:srgbClr val="4C7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7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03 · 整体 Pipeline</a:t>
            </a:r>
            <a:endParaRPr lang="en-US" sz="1600" b="1" i="0" u="none" strike="noStrike">
              <a:solidFill>
                <a:srgbClr val="4C7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1016000" y="1016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A2D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/>
              </a:rPr>
              <a:t>知识检索 → 初步分析 → 按需读仓库 → 报告</a:t>
            </a:r>
            <a:endParaRPr lang="en-US" sz="3200" b="1" i="0" u="none" strike="noStrike">
              <a:solidFill>
                <a:srgbClr val="2A2D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/>
            </a:endParaRPr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771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0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762000" y="24130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7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① 输入函数</a:t>
            </a:r>
            <a:endParaRPr lang="en-US" sz="1600" b="1" i="0" u="none" strike="noStrike">
              <a:solidFill>
                <a:srgbClr val="4C7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 txBox="1"/>
          <p:nvPr/>
        </p:nvSpPr>
        <p:spPr>
          <a:xfrm>
            <a:off x="762000" y="28194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C/C++ 函数代码</a:t>
            </a:r>
            <a:endParaRPr 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仓库链接</a:t>
            </a:r>
            <a:endParaRPr lang="en-US" sz="12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2857500" y="24130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7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② 检索知识库</a:t>
            </a:r>
            <a:endParaRPr lang="en-US" sz="1600" b="1" i="0" u="none" strike="noStrike">
              <a:solidFill>
                <a:srgbClr val="4C7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2857500" y="28194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RAG 检索相似</a:t>
            </a:r>
            <a:endParaRPr 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历史漏洞案例</a:t>
            </a:r>
            <a:endParaRPr lang="en-US" sz="12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4953000" y="24130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7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③ 初步分析</a:t>
            </a:r>
            <a:endParaRPr lang="en-US" sz="1600" b="1" i="0" u="none" strike="noStrike">
              <a:solidFill>
                <a:srgbClr val="4C7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4953000" y="28194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结合领域知识</a:t>
            </a:r>
            <a:endParaRPr lang="en-US" sz="120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判定可疑点</a:t>
            </a:r>
            <a:endParaRPr lang="en-US" sz="12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 txBox="1"/>
          <p:nvPr/>
        </p:nvSpPr>
        <p:spPr>
          <a:xfrm>
            <a:off x="7048500" y="24130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7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④ 按需读仓库</a:t>
            </a:r>
            <a:endParaRPr lang="en-US" sz="1600" b="1" i="0" u="none" strike="noStrike">
              <a:solidFill>
                <a:srgbClr val="4C7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7048500" y="28194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证据不足时</a:t>
            </a:r>
            <a:endParaRPr lang="en-US" sz="120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挖掘上下文</a:t>
            </a:r>
            <a:endParaRPr lang="en-US" sz="12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 txBox="1"/>
          <p:nvPr/>
        </p:nvSpPr>
        <p:spPr>
          <a:xfrm>
            <a:off x="9144000" y="24130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7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⑤ 输出报告</a:t>
            </a:r>
            <a:endParaRPr lang="en-US" sz="1600" b="1" i="0" u="none" strike="noStrike">
              <a:solidFill>
                <a:srgbClr val="4C7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9144000" y="28194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判定结果 + 理由</a:t>
            </a:r>
            <a:endParaRPr 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分析过程记录</a:t>
            </a:r>
            <a:endParaRPr lang="en-US" sz="12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cxnSp>
        <p:nvCxnSpPr>
          <p:cNvPr id="15" name="Connector 15"/>
          <p:cNvCxnSpPr/>
          <p:nvPr/>
        </p:nvCxnSpPr>
        <p:spPr>
          <a:xfrm rot="-137436">
            <a:off x="2540127" y="25844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6" name="Connector 16"/>
          <p:cNvCxnSpPr/>
          <p:nvPr/>
        </p:nvCxnSpPr>
        <p:spPr>
          <a:xfrm rot="-137436">
            <a:off x="4635627" y="25844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7" name="Connector 17"/>
          <p:cNvCxnSpPr/>
          <p:nvPr/>
        </p:nvCxnSpPr>
        <p:spPr>
          <a:xfrm rot="-137436">
            <a:off x="6731127" y="25844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8" name="Connector 18"/>
          <p:cNvCxnSpPr/>
          <p:nvPr/>
        </p:nvCxnSpPr>
        <p:spPr>
          <a:xfrm rot="-137436">
            <a:off x="8826627" y="25844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9" name="Connector 19"/>
          <p:cNvCxnSpPr/>
          <p:nvPr/>
        </p:nvCxnSpPr>
        <p:spPr>
          <a:xfrm rot="-4297">
            <a:off x="1016004" y="3930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0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 txBox="1"/>
          <p:nvPr/>
        </p:nvSpPr>
        <p:spPr>
          <a:xfrm>
            <a:off x="1016000" y="4254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7A5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关键设计：证据驱动的按需工具调用</a:t>
            </a:r>
            <a:endParaRPr lang="en-US" sz="1600" b="1" i="0" u="none" strike="noStrike">
              <a:solidFill>
                <a:srgbClr val="4C7A5A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 txBox="1"/>
          <p:nvPr/>
        </p:nvSpPr>
        <p:spPr>
          <a:xfrm>
            <a:off x="1016000" y="47625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智能体先在领域知识库中检索相关知识，基于知识对待测函数展开初步分析。</a:t>
            </a:r>
            <a:r>
              <a:rPr lang="en-US" sz="1600" b="1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当发现分析所需证据不足时</a:t>
            </a: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，才启动仓库读取功能，用 grep、find 等工具在仓库中按需挖掘调用方、被调用方、全局变量声明等上下文，在更完整的素材下做出可靠检测。</a:t>
            </a:r>
            <a:endParaRPr 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知识检索记录与仓库读取记录均需在用户界面展示，使整个分析过程可追溯。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7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04 · 核心模块（一）</a:t>
            </a:r>
            <a:endParaRPr lang="en-US" sz="1600" b="1" i="0" u="none" strike="noStrike">
              <a:solidFill>
                <a:srgbClr val="4C7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1016000" y="1016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A2D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/>
              </a:rPr>
              <a:t>领域知识库：基于历史 CVE 案例的 RAG</a:t>
            </a:r>
            <a:endParaRPr lang="en-US" sz="3200" b="1" i="0" u="none" strike="noStrike">
              <a:solidFill>
                <a:srgbClr val="2A2D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/>
            </a:endParaRPr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771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0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1016000" y="20955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利用提供的历史案例数据集构建领域知识库，通过向量相似度等方式检索相似漏洞模式，供 LLM 参考。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 txBox="1"/>
          <p:nvPr/>
        </p:nvSpPr>
        <p:spPr>
          <a:xfrm>
            <a:off x="1016000" y="2984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7A5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可用知识来源</a:t>
            </a:r>
            <a:endParaRPr lang="en-US" sz="1600" b="1" i="0" u="none" strike="noStrike">
              <a:solidFill>
                <a:srgbClr val="4C7A5A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1016000" y="3492500"/>
            <a:ext cx="4826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· 成对函数样本（漏洞版 + 修复版）</a:t>
            </a:r>
            <a:endParaRPr 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· cve_desc：漏洞披露描述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· commit_message：修复提交说明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· cwe：漏洞类型编号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· project / file_name 等元信息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5382370">
            <a:off x="4984750" y="4343416"/>
            <a:ext cx="247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0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 txBox="1"/>
          <p:nvPr/>
        </p:nvSpPr>
        <p:spPr>
          <a:xfrm>
            <a:off x="6731000" y="2984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7A5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构建自由度与红线</a:t>
            </a:r>
            <a:endParaRPr lang="en-US" sz="1600" b="1" i="0" u="none" strike="noStrike">
              <a:solidFill>
                <a:srgbClr val="4C7A5A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6731000" y="3492500"/>
            <a:ext cx="4445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· 知识库形式不做强制要求</a:t>
            </a:r>
            <a:endParaRPr 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· 可直接使用原始信息，也可 LLM 二次加工总结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· 历史案例数据集</a:t>
            </a:r>
            <a:r>
              <a:rPr lang="en-US" sz="1600" b="1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允许成对使用</a:t>
            </a:r>
            <a:endParaRPr lang="en-US" sz="1600" b="1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· </a:t>
            </a:r>
            <a:r>
              <a:rPr lang="en-US" sz="1600" b="0" i="0" u="none" strike="noStrike">
                <a:solidFill>
                  <a:srgbClr val="9B3C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红线：仅限使用提供的数据集，</a:t>
            </a:r>
            <a:endParaRPr lang="en-US" sz="1600" b="0" i="0" u="none" strike="noStrike">
              <a:solidFill>
                <a:srgbClr val="9B3C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9B3C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　不得引入额外安全知识</a:t>
            </a:r>
            <a:endParaRPr lang="en-US" sz="1600" b="0" i="0" u="none" strike="noStrike">
              <a:solidFill>
                <a:srgbClr val="9B3C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7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05 · 核心模块（二）</a:t>
            </a:r>
            <a:endParaRPr lang="en-US" sz="1600" b="1" i="0" u="none" strike="noStrike">
              <a:solidFill>
                <a:srgbClr val="4C7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1016000" y="1016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A2D30"/>
                </a:solidFill>
                <a:latin typeface="微软雅黑" panose="020B0503020204020204" charset="-122"/>
                <a:ea typeface="微软雅黑" panose="020B0503020204020204" charset="-122"/>
                <a:cs typeface="Noto Serif SC"/>
                <a:sym typeface="Noto Serif SC"/>
              </a:rPr>
              <a:t>代码上下文挖掘：按需读取仓库</a:t>
            </a:r>
            <a:endParaRPr lang="en-US" sz="3200" b="1" i="0" u="none" strike="noStrike">
              <a:solidFill>
                <a:srgbClr val="2A2D30"/>
              </a:solidFill>
              <a:latin typeface="微软雅黑" panose="020B0503020204020204" charset="-122"/>
              <a:ea typeface="微软雅黑" panose="020B0503020204020204" charset="-122"/>
              <a:cs typeface="Noto Serif SC"/>
              <a:sym typeface="Noto Serif SC"/>
            </a:endParaRPr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771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0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1016000" y="20955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利用修复提交链接获取对应版本的仓库快照，为智能体配备内容查找与读取工具，在分析过程中按需溯源上下文。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 txBox="1"/>
          <p:nvPr/>
        </p:nvSpPr>
        <p:spPr>
          <a:xfrm>
            <a:off x="1016000" y="2984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7A5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可挖掘的上下文</a:t>
            </a:r>
            <a:endParaRPr lang="en-US" sz="1600" b="1" i="0" u="none" strike="noStrike">
              <a:solidFill>
                <a:srgbClr val="4C7A5A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1016000" y="3492500"/>
            <a:ext cx="4826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· 函数调用方（谁调用了本函数）</a:t>
            </a:r>
            <a:endParaRPr 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· 被调用方（本函数调用了谁）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· 全局变量声明与使用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· 类型定义与宏定义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· 相关辅助函数实现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5381417">
            <a:off x="5048250" y="4279917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0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 txBox="1"/>
          <p:nvPr/>
        </p:nvSpPr>
        <p:spPr>
          <a:xfrm>
            <a:off x="6731000" y="2984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7A5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工具与实现参考</a:t>
            </a:r>
            <a:endParaRPr lang="en-US" sz="1600" b="1" i="0" u="none" strike="noStrike">
              <a:solidFill>
                <a:srgbClr val="4C7A5A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6731000" y="3492500"/>
            <a:ext cx="4445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· grep、find 等内容查找命令</a:t>
            </a:r>
            <a:endParaRPr 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· GitHub API 获取仓库快照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· Tree-sitter 语法解析器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　提取函数定义、调用关系等结构信息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cxnSp>
        <p:nvCxnSpPr>
          <p:cNvPr id="11" name="Connector 11"/>
          <p:cNvCxnSpPr/>
          <p:nvPr/>
        </p:nvCxnSpPr>
        <p:spPr>
          <a:xfrm rot="-4297">
            <a:off x="1016004" y="5645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0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 txBox="1"/>
          <p:nvPr/>
        </p:nvSpPr>
        <p:spPr>
          <a:xfrm>
            <a:off x="1016000" y="584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b="0" i="0" u="none" strike="noStrike">
                <a:solidFill>
                  <a:srgbClr val="9B3C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严格版本控制：标签为 1（漏洞版）的样本只获取父提交版本；标签为 0（修复版）的样本只获取提交后版本。不得向 LLM 提供 git diff 或两版本间的代码变更信息。</a:t>
            </a:r>
            <a:endParaRPr lang="en-US" b="0" i="0" u="none" strike="noStrike">
              <a:solidFill>
                <a:srgbClr val="9B3C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7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06 · 输入与输出</a:t>
            </a:r>
            <a:endParaRPr lang="en-US" sz="1600" b="1" i="0" u="none" strike="noStrike">
              <a:solidFill>
                <a:srgbClr val="4C7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1016000" y="1016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A2D30"/>
                </a:solidFill>
                <a:latin typeface="微软雅黑" panose="020B0503020204020204" charset="-122"/>
                <a:ea typeface="微软雅黑" panose="020B0503020204020204" charset="-122"/>
                <a:cs typeface="Noto Serif SC"/>
                <a:sym typeface="Noto Serif SC"/>
              </a:rPr>
              <a:t>图形化界面入口与四项报告要素</a:t>
            </a:r>
            <a:endParaRPr lang="en-US" sz="3200" b="1" i="0" u="none" strike="noStrike">
              <a:solidFill>
                <a:srgbClr val="2A2D30"/>
              </a:solidFill>
              <a:latin typeface="微软雅黑" panose="020B0503020204020204" charset="-122"/>
              <a:ea typeface="微软雅黑" panose="020B0503020204020204" charset="-122"/>
              <a:cs typeface="Noto Serif SC"/>
              <a:sym typeface="Noto Serif SC"/>
            </a:endParaRPr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771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0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1016000" y="2095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B3C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界面要求：必须设计图形化 UI，不接受单纯命令行交互窗口</a:t>
            </a:r>
            <a:endParaRPr lang="en-US" sz="1600" b="0" i="0" u="none" strike="noStrike">
              <a:solidFill>
                <a:srgbClr val="9B3C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 txBox="1"/>
          <p:nvPr/>
        </p:nvSpPr>
        <p:spPr>
          <a:xfrm>
            <a:off x="1016000" y="2730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7A5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用户输入</a:t>
            </a:r>
            <a:endParaRPr lang="en-US" sz="1600" b="1" i="0" u="none" strike="noStrike">
              <a:solidFill>
                <a:srgbClr val="4C7A5A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1016000" y="3238500"/>
            <a:ext cx="482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· 一个 C/C++ 函数代码</a:t>
            </a:r>
            <a:endParaRPr 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· 相应代码仓库链接（修复提交链接）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· 支持单样本检测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· 支持</a:t>
            </a:r>
            <a:r>
              <a:rPr lang="en-US" sz="1600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批量</a:t>
            </a: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上传 .jsonl 文件检测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5380355">
            <a:off x="5111750" y="3962418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0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 txBox="1"/>
          <p:nvPr/>
        </p:nvSpPr>
        <p:spPr>
          <a:xfrm>
            <a:off x="6731000" y="2730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7A5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检测报告（四项内容）</a:t>
            </a:r>
            <a:endParaRPr lang="en-US" sz="1600" b="1" i="0" u="none" strike="noStrike">
              <a:solidFill>
                <a:srgbClr val="4C7A5A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6731000" y="3238500"/>
            <a:ext cx="4445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· 检测函数 </a:t>
            </a:r>
            <a:r>
              <a:rPr lang="en-US" sz="1600" b="1" i="0" u="none" strike="noStrike">
                <a:solidFill>
                  <a:srgbClr val="2A2D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idx</a:t>
            </a:r>
            <a:endParaRPr 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· </a:t>
            </a:r>
            <a:r>
              <a:rPr lang="en-US" sz="1600" b="1" i="0" u="none" strike="noStrike">
                <a:solidFill>
                  <a:srgbClr val="2A2D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检测结果</a:t>
            </a: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：有漏洞 / 无漏洞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· </a:t>
            </a:r>
            <a:r>
              <a:rPr lang="en-US" sz="1600" b="1" i="0" u="none" strike="noStrike">
                <a:solidFill>
                  <a:srgbClr val="2A2D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判定理由</a:t>
            </a: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：为什么这样判断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· </a:t>
            </a:r>
            <a:r>
              <a:rPr lang="en-US" sz="1600" b="1" i="0" u="none" strike="noStrike">
                <a:solidFill>
                  <a:srgbClr val="2A2D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分析记录</a:t>
            </a: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：历史案例检索记录、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　仓库读取记录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cxnSp>
        <p:nvCxnSpPr>
          <p:cNvPr id="11" name="Connector 11"/>
          <p:cNvCxnSpPr/>
          <p:nvPr/>
        </p:nvCxnSpPr>
        <p:spPr>
          <a:xfrm rot="-4297">
            <a:off x="1016004" y="5518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0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 txBox="1"/>
          <p:nvPr/>
        </p:nvSpPr>
        <p:spPr>
          <a:xfrm>
            <a:off x="1016000" y="5715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UI 需支持：输入与启动检测流程、实时查看检测分析过程、接收检测报告。知识检索与仓库读取记录需在界面可见，使分析过程透明可追溯。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7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07 · 测试集与隔离规则</a:t>
            </a:r>
            <a:endParaRPr lang="en-US" sz="1600" b="1" i="0" u="none" strike="noStrike">
              <a:solidFill>
                <a:srgbClr val="4C7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1016000" y="1016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A2D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/>
              </a:rPr>
              <a:t>150 对真实漏洞函数，严格成对隔离</a:t>
            </a:r>
            <a:endParaRPr lang="en-US" sz="3200" b="1" i="0" u="none" strike="noStrike">
              <a:solidFill>
                <a:srgbClr val="2A2D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/>
            </a:endParaRPr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771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0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1016000" y="2095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7A5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测试集构成</a:t>
            </a:r>
            <a:endParaRPr lang="en-US" sz="1600" b="1" i="0" u="none" strike="noStrike">
              <a:solidFill>
                <a:srgbClr val="4C7A5A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 txBox="1"/>
          <p:nvPr/>
        </p:nvSpPr>
        <p:spPr>
          <a:xfrm>
            <a:off x="1016000" y="2603500"/>
            <a:ext cx="4826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· </a:t>
            </a:r>
            <a:r>
              <a:rPr lang="en-US" sz="1600" b="1" i="0" u="none" strike="noStrike">
                <a:solidFill>
                  <a:srgbClr val="2A2D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150 对</a:t>
            </a: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函数样本（共 300 条）</a:t>
            </a:r>
            <a:endParaRPr 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· 每对 = 同一函数的漏洞版 + 修复版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· 均来自开源项目真实已修复漏洞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· 字段：idx、commit_url、target、func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· 标签 1 = 有漏洞，标签 0 = 无漏洞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5385371">
            <a:off x="4730750" y="3708414"/>
            <a:ext cx="298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0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 txBox="1"/>
          <p:nvPr/>
        </p:nvSpPr>
        <p:spPr>
          <a:xfrm>
            <a:off x="6731000" y="2095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B3C32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三条隔离红线</a:t>
            </a:r>
            <a:endParaRPr lang="en-US" sz="1600" b="1" i="0" u="none" strike="noStrike">
              <a:solidFill>
                <a:srgbClr val="9B3C32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6731000" y="2603500"/>
            <a:ext cx="4445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· 每次只输入一对样本中的一个，</a:t>
            </a:r>
            <a:endParaRPr 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　　不可同时提供漏洞版与修复版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· 标签 1 只取父提交版本仓库；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　　标签 0 只取提交后版本仓库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· 不得提供 git diff 或代码变更信息，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　　避免 LLM 直接看到修复点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 rot="-4297">
            <a:off x="1016004" y="5581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0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 txBox="1"/>
          <p:nvPr/>
        </p:nvSpPr>
        <p:spPr>
          <a:xfrm>
            <a:off x="1016000" y="5778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最终将 300 条检测结果汇总为 result.jsonl，每条含 idx 与 prediction（0 或 1），用于统一统计评</a:t>
            </a:r>
            <a:r>
              <a:rPr lang="zh-CN" alt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价</a:t>
            </a: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。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7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08 · 评</a:t>
            </a:r>
            <a:r>
              <a:rPr lang="zh-CN" altLang="en-US" sz="1600" b="1" i="0" u="none" strike="noStrike">
                <a:solidFill>
                  <a:srgbClr val="4C7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价</a:t>
            </a:r>
            <a:r>
              <a:rPr lang="en-US" sz="1600" b="1" i="0" u="none" strike="noStrike">
                <a:solidFill>
                  <a:srgbClr val="4C7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方法</a:t>
            </a:r>
            <a:endParaRPr lang="en-US" sz="1600" b="1" i="0" u="none" strike="noStrike">
              <a:solidFill>
                <a:srgbClr val="4C7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1016000" y="1016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A2D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/>
              </a:rPr>
              <a:t>成对统计：P-C 为核心，P-R 为惩罚项</a:t>
            </a:r>
            <a:endParaRPr lang="en-US" sz="3200" b="1" i="0" u="none" strike="noStrike">
              <a:solidFill>
                <a:srgbClr val="2A2D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/>
            </a:endParaRPr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771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0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016000" y="2095500"/>
          <a:ext cx="10160000" cy="1778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4064000"/>
                <a:gridCol w="4572000"/>
              </a:tblGrid>
              <a:tr h="406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类型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7A5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含义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7A5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漏洞版 / 修复版 预测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7A5A">
                        <a:alpha val="100000"/>
                      </a:srgbClr>
                    </a:solidFill>
                  </a:tcPr>
                </a:tc>
              </a:tr>
              <a:tr h="342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4C7A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P-C 正确</a:t>
                      </a:r>
                      <a:endParaRPr lang="en-US" sz="1400" b="1" i="0" u="none" strike="noStrike">
                        <a:solidFill>
                          <a:srgbClr val="4C7A5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Noto Sans SC" panose="020B0200000000000000" charset="-122"/>
                      </a:endParaRPr>
                    </a:p>
                  </a:txBody>
                  <a:tcPr marL="101600" marR="101600" marT="82550" marB="825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D5A5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完美区分漏洞版与修复版</a:t>
                      </a:r>
                      <a:endParaRPr lang="en-US" sz="1200" b="0" i="0" u="none" strike="noStrike">
                        <a:solidFill>
                          <a:srgbClr val="4D5A5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88900" marB="889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D5A5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漏洞版 → 1　修复版 → 0</a:t>
                      </a:r>
                      <a:endParaRPr lang="en-US" sz="1200" b="0" i="0" u="none" strike="noStrike">
                        <a:solidFill>
                          <a:srgbClr val="4D5A5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Noto Sans SC" panose="020B0200000000000000" charset="-122"/>
                      </a:endParaRPr>
                    </a:p>
                  </a:txBody>
                  <a:tcPr marL="101600" marR="101600" marT="88900" marB="889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42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P-V</a:t>
                      </a:r>
                      <a:endParaRPr lang="en-US" sz="1400" b="0" i="0" u="none" strike="noStrike">
                        <a:solidFill>
                          <a:srgbClr val="2A2D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82550" marB="825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D5A5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两版本均判为有漏洞（漏报修复版）</a:t>
                      </a:r>
                      <a:endParaRPr lang="en-US" sz="1200" b="0" i="0" u="none" strike="noStrike">
                        <a:solidFill>
                          <a:srgbClr val="4D5A5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88900" marB="889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D5A5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均 → 1</a:t>
                      </a:r>
                      <a:endParaRPr lang="en-US" sz="1200" b="0" i="0" u="none" strike="noStrike">
                        <a:solidFill>
                          <a:srgbClr val="4D5A5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Noto Sans SC" panose="020B0200000000000000" charset="-122"/>
                      </a:endParaRPr>
                    </a:p>
                  </a:txBody>
                  <a:tcPr marL="101600" marR="101600" marT="88900" marB="889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42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P-B</a:t>
                      </a:r>
                      <a:endParaRPr lang="en-US" sz="1400" b="0" i="0" u="none" strike="noStrike">
                        <a:solidFill>
                          <a:srgbClr val="2A2D3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82550" marB="825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D5A5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两版本均判为无漏洞（漏报漏洞版）</a:t>
                      </a:r>
                      <a:endParaRPr lang="en-US" sz="1200" b="0" i="0" u="none" strike="noStrike">
                        <a:solidFill>
                          <a:srgbClr val="4D5A5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88900" marB="889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D5A5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均 → 0</a:t>
                      </a:r>
                      <a:endParaRPr lang="en-US" sz="1200" b="0" i="0" u="none" strike="noStrike">
                        <a:solidFill>
                          <a:srgbClr val="4D5A5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Noto Sans SC" panose="020B0200000000000000" charset="-122"/>
                      </a:endParaRPr>
                    </a:p>
                  </a:txBody>
                  <a:tcPr marL="101600" marR="101600" marT="88900" marB="889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429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9B3C3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P-R 错误</a:t>
                      </a:r>
                      <a:endParaRPr lang="en-US" sz="1400" b="0" i="0" u="none" strike="noStrike">
                        <a:solidFill>
                          <a:srgbClr val="9B3C3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Noto Sans SC" panose="020B0200000000000000" charset="-122"/>
                      </a:endParaRPr>
                    </a:p>
                  </a:txBody>
                  <a:tcPr marL="101600" marR="101600" marT="82550" marB="825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D5A5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完全反转：把漏洞版当良性、修复版当有洞</a:t>
                      </a:r>
                      <a:endParaRPr lang="en-US" sz="1200" b="0" i="0" u="none" strike="noStrike">
                        <a:solidFill>
                          <a:srgbClr val="4D5A5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88900" marB="889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D5A5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漏洞版 → 0　修复版 → 1</a:t>
                      </a:r>
                      <a:endParaRPr lang="en-US" sz="1200" b="0" i="0" u="none" strike="noStrike">
                        <a:solidFill>
                          <a:srgbClr val="4D5A5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Noto Sans SC" panose="020B0200000000000000" charset="-122"/>
                      </a:endParaRPr>
                    </a:p>
                  </a:txBody>
                  <a:tcPr marL="101600" marR="101600" marT="88900" marB="889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AutoShape 6"/>
          <p:cNvSpPr txBox="1"/>
          <p:nvPr/>
        </p:nvSpPr>
        <p:spPr>
          <a:xfrm>
            <a:off x="1016000" y="4191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7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等级标准（按 P-C 对数）</a:t>
            </a:r>
            <a:endParaRPr lang="en-US" sz="1600" b="1" i="0" u="none" strike="noStrike">
              <a:solidFill>
                <a:srgbClr val="4C7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1016000" y="4699000"/>
            <a:ext cx="482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· </a:t>
            </a:r>
            <a:r>
              <a:rPr lang="en-US" sz="1600" b="1" i="0" u="none" strike="noStrike">
                <a:solidFill>
                  <a:srgbClr val="4C7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A</a:t>
            </a: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：P-C ≥ 30 对</a:t>
            </a:r>
            <a:endParaRPr 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· </a:t>
            </a:r>
            <a:r>
              <a:rPr lang="en-US" sz="1600" b="1" i="0" u="none" strike="noStrike">
                <a:solidFill>
                  <a:srgbClr val="2A2D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B</a:t>
            </a: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：P-C 25 ~ 29 对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· </a:t>
            </a:r>
            <a:r>
              <a:rPr lang="en-US" sz="1600" b="1" i="0" u="none" strike="noStrike">
                <a:solidFill>
                  <a:srgbClr val="2A2D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C</a:t>
            </a: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：P-C 20 ~ 24 对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· </a:t>
            </a:r>
            <a:r>
              <a:rPr lang="en-US" sz="1600" b="1" i="0" u="none" strike="noStrike">
                <a:solidFill>
                  <a:srgbClr val="9B3C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D</a:t>
            </a: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：P-C &lt; 20 对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5375445">
            <a:off x="5334000" y="5200673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0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 txBox="1"/>
          <p:nvPr/>
        </p:nvSpPr>
        <p:spPr>
          <a:xfrm>
            <a:off x="6731000" y="41910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B3C32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惩罚规则</a:t>
            </a:r>
            <a:endParaRPr lang="en-US" sz="1600" b="1" i="0" u="none" strike="noStrike">
              <a:solidFill>
                <a:srgbClr val="9B3C32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6731000" y="4699000"/>
            <a:ext cx="444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· 若 P-R 数 &gt; P-C 数的 1/2，</a:t>
            </a:r>
            <a:endParaRPr 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　　最终等级下降一级（最低为 D）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· 调试阶段可用 dataset/evaluate.py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　　自行统计查看效果</a:t>
            </a:r>
            <a:endParaRPr lang="en-US" sz="1600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7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09 · 红线与技术栈</a:t>
            </a:r>
            <a:endParaRPr lang="en-US" sz="1600" b="1" i="0" u="none" strike="noStrike">
              <a:solidFill>
                <a:srgbClr val="4C7A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1016000" y="1016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A2D30"/>
                </a:solidFill>
                <a:latin typeface="微软雅黑" panose="020B0503020204020204" charset="-122"/>
                <a:ea typeface="微软雅黑" panose="020B0503020204020204" charset="-122"/>
                <a:cs typeface="Noto Serif SC"/>
                <a:sym typeface="Noto Serif SC"/>
              </a:rPr>
              <a:t>三条红线约束与可选技术栈</a:t>
            </a:r>
            <a:endParaRPr lang="en-US" sz="3200" b="1" i="0" u="none" strike="noStrike">
              <a:solidFill>
                <a:srgbClr val="2A2D30"/>
              </a:solidFill>
              <a:latin typeface="微软雅黑" panose="020B0503020204020204" charset="-122"/>
              <a:ea typeface="微软雅黑" panose="020B0503020204020204" charset="-122"/>
              <a:cs typeface="Noto Serif SC"/>
              <a:sym typeface="Noto Serif SC"/>
            </a:endParaRPr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771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0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1016000" y="2095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B3C32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必须遵守的三条红线</a:t>
            </a:r>
            <a:endParaRPr lang="en-US" sz="1600" b="1" i="0" u="none" strike="noStrike">
              <a:solidFill>
                <a:srgbClr val="9B3C32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 txBox="1"/>
          <p:nvPr/>
        </p:nvSpPr>
        <p:spPr>
          <a:xfrm>
            <a:off x="1016000" y="2603500"/>
            <a:ext cx="1016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b="1" i="0" u="none" strike="noStrike">
                <a:solidFill>
                  <a:srgbClr val="2A2D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1. 必须是自主 Agent：</a:t>
            </a:r>
            <a:r>
              <a:rPr lang="en-US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不可将流程封装为 skill 直接调用 Codex、Claude Code 等商业代码分析智能体；也不可退化为无自主决策的多步 LLM API 串行调用。必须基于 Agent 框架实现自主推理与工具调用。</a:t>
            </a:r>
            <a:endParaRPr 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b="1" i="0" u="none" strike="noStrike">
                <a:solidFill>
                  <a:srgbClr val="2A2D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2. 严格成对隔离：</a:t>
            </a:r>
            <a:r>
              <a:rPr lang="en-US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不可同时提供漏洞版与修复版函数，仓库也只能提供对应一个版本，不得让 LLM 看到两版间代码变更。</a:t>
            </a:r>
            <a:endParaRPr lang="en-US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b="1" i="0" u="none" strike="noStrike">
                <a:solidFill>
                  <a:srgbClr val="2A2D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3. 禁止网络搜索：</a:t>
            </a:r>
            <a:r>
              <a:rPr lang="en-US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除按 commit_url 获取指定版本仓库外，不得提供其他网络搜索能力——否则可直接搜到答案，无法衡量真实检测能力。</a:t>
            </a:r>
            <a:endParaRPr lang="en-US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4297">
            <a:off x="1016004" y="4502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0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 txBox="1"/>
          <p:nvPr/>
        </p:nvSpPr>
        <p:spPr>
          <a:xfrm>
            <a:off x="1016000" y="46990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7A5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参考技术栈（不强制限定）</a:t>
            </a:r>
            <a:endParaRPr lang="en-US" sz="1600" b="1" i="0" u="none" strike="noStrike">
              <a:solidFill>
                <a:srgbClr val="4C7A5A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1016000" y="5143500"/>
            <a:ext cx="317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b="1" i="0" u="none" strike="noStrike">
                <a:solidFill>
                  <a:srgbClr val="2A2D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RAG 模块</a:t>
            </a:r>
            <a:endParaRPr 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LangChain / LlamaIndex</a:t>
            </a:r>
            <a:endParaRPr lang="en-US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FAISS / Chroma</a:t>
            </a:r>
            <a:endParaRPr lang="en-US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Qwen 向量 API 或开源嵌入模型</a:t>
            </a:r>
            <a:endParaRPr lang="en-US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4572000" y="5143500"/>
            <a:ext cx="317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b="1" i="0" u="none" strike="noStrike">
                <a:solidFill>
                  <a:srgbClr val="2A2D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Agent 框架</a:t>
            </a:r>
            <a:endParaRPr 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LangGraph</a:t>
            </a:r>
            <a:endParaRPr lang="en-US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Pi Agent</a:t>
            </a:r>
            <a:endParaRPr lang="en-US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AutoGen</a:t>
            </a:r>
            <a:endParaRPr lang="en-US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 txBox="1"/>
          <p:nvPr/>
        </p:nvSpPr>
        <p:spPr>
          <a:xfrm>
            <a:off x="8128000" y="5143500"/>
            <a:ext cx="317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b="1" i="0" u="none" strike="noStrike">
                <a:solidFill>
                  <a:srgbClr val="2A2D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代码解析</a:t>
            </a:r>
            <a:endParaRPr 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GitHub API 获取仓库快照</a:t>
            </a:r>
            <a:endParaRPr lang="en-US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Tree-sitter 语法解析</a:t>
            </a:r>
            <a:endParaRPr lang="en-US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b="0" i="0" u="none" strike="noStrike">
                <a:solidFill>
                  <a:srgbClr val="4D5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提取函数定义与调用关系</a:t>
            </a:r>
            <a:endParaRPr lang="en-US" b="0" i="0" u="none" strike="noStrike">
              <a:solidFill>
                <a:srgbClr val="4D5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2937</Words>
  <Application>WPS 演示</Application>
  <PresentationFormat/>
  <Paragraphs>253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Arial</vt:lpstr>
      <vt:lpstr>微软雅黑</vt:lpstr>
      <vt:lpstr>Noto Sans SC</vt:lpstr>
      <vt:lpstr>Noto Serif SC</vt:lpstr>
      <vt:lpstr>Segoe Print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魏峻</cp:lastModifiedBy>
  <cp:revision>8</cp:revision>
  <dcterms:created xsi:type="dcterms:W3CDTF">2026-10-06T06:03:00Z</dcterms:created>
  <dcterms:modified xsi:type="dcterms:W3CDTF">2026-10-08T16:59:18Z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{"Label":"1","ContentProducer":"001191110102MACQD9K64010000","ProduceID":"7693430209756744653","ReservedCode1":"","ContentPropagator":"","PropagateID":"","ReservedCode2":""}</vt:lpwstr>
  </property>
  <property fmtid="{D5CDD505-2E9C-101B-9397-08002B2CF9AE}" pid="3" name="KSOProductBuildVer">
    <vt:lpwstr>2052-12.1.0.28505</vt:lpwstr>
  </property>
  <property fmtid="{D5CDD505-2E9C-101B-9397-08002B2CF9AE}" pid="4" name="ICV">
    <vt:lpwstr>C49E952407BB4A30ACC8A12216118E8B_12</vt:lpwstr>
  </property>
</Properties>
</file>